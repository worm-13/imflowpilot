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## 第1页：封面</a:t>
            </a:r>
          </a:p>
          <a:p/>
          <a:p>
            <a:r>
              <a:t>### FlowMind</a:t>
            </a:r>
          </a:p>
          <a:p>
            <a:r>
              <a:t>#### AI 驱动的团队协作工具 · 产品需求文档</a:t>
            </a:r>
          </a:p>
          <a:p/>
          <a:p>
            <a:r>
              <a:t>**版本：V1.0**</a:t>
            </a:r>
          </a:p>
          <a:p>
            <a:r>
              <a:t>**日期：2025年Q1**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产品背景与定位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第2页：产品背景与定位</a:t>
            </a:r>
          </a:p>
          <a:p/>
          <a:p>
            <a:r>
              <a:t>### 产品背景</a:t>
            </a:r>
          </a:p>
          <a:p/>
          <a:p>
            <a:r>
              <a:t>中小型互联网公司在日常协作中面临三大痛点：</a:t>
            </a:r>
          </a:p>
          <a:p>
            <a:r>
              <a:t>- 会议效率低下，纪要整理耗时</a:t>
            </a:r>
          </a:p>
          <a:p>
            <a:r>
              <a:t>- 任务分配依赖人工，容易遗漏</a:t>
            </a:r>
          </a:p>
          <a:p>
            <a:r>
              <a:t>- 知识分散在多个平台，检索困难</a:t>
            </a:r>
          </a:p>
          <a:p/>
          <a:p>
            <a:r>
              <a:t>### 产品定位</a:t>
            </a:r>
          </a:p>
          <a:p/>
          <a:p>
            <a:r>
              <a:t>**FlowMind** 是一款面向 **50-200人** 中小型互联网公司的 **AI 驱动的团队协作工具**，通过智能化手段解决以上痛点。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产品愿景与价值主张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第3页：产品愿景与价值主张</a:t>
            </a:r>
          </a:p>
          <a:p/>
          <a:p>
            <a:r>
              <a:t>### 产品愿景</a:t>
            </a:r>
          </a:p>
          <a:p/>
          <a:p>
            <a:r>
              <a:t>让每个团队的协作变得更智能、更高效、更流畅。</a:t>
            </a:r>
          </a:p>
          <a:p/>
          <a:p>
            <a:r>
              <a:t>### 四大核心价值</a:t>
            </a:r>
          </a:p>
          <a:p/>
          <a:p>
            <a:r>
              <a:t>| 价值 | 说明 |</a:t>
            </a:r>
          </a:p>
          <a:p>
            <a:r>
              <a:t>|------|------|</a:t>
            </a:r>
          </a:p>
          <a:p>
            <a:r>
              <a:t>| **智能会议纪要** | 会议内容自动结构化，关键信息一目了然 |</a:t>
            </a:r>
          </a:p>
          <a:p>
            <a:r>
              <a:t>| **自动任务分配** | AI 识别待办事项并指派给对应负责人 |</a:t>
            </a:r>
          </a:p>
          <a:p>
            <a:r>
              <a:t>| **知识库检索** | 全域搜索，语义匹配，快速找到所需信息 |</a:t>
            </a:r>
          </a:p>
          <a:p>
            <a:r>
              <a:t>| **多端实时同步** | 桌面端、移动端、Web 端数据无缝互通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目标用户画像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第4页：目标用户画像</a:t>
            </a:r>
          </a:p>
          <a:p/>
          <a:p>
            <a:r>
              <a:t>### 目标用户特征</a:t>
            </a:r>
          </a:p>
          <a:p/>
          <a:p>
            <a:r>
              <a:t>| 维度 | 描述 |</a:t>
            </a:r>
          </a:p>
          <a:p>
            <a:r>
              <a:t>|------|------|</a:t>
            </a:r>
          </a:p>
          <a:p>
            <a:r>
              <a:t>| **团队规模** | 50-200 人 |</a:t>
            </a:r>
          </a:p>
          <a:p>
            <a:r>
              <a:t>| **行业** | 互联网公司（软件、SaaS、电商等） |</a:t>
            </a:r>
          </a:p>
          <a:p>
            <a:r>
              <a:t>| **典型角色** | 项目经理、开发者、产品经理 |</a:t>
            </a:r>
          </a:p>
          <a:p>
            <a:r>
              <a:t>| **核心需求** | 提升协作效率、减少重复性工作、统一信息管理 |</a:t>
            </a:r>
          </a:p>
          <a:p/>
          <a:p>
            <a:r>
              <a:t>### 用户痛点分析</a:t>
            </a:r>
          </a:p>
          <a:p/>
          <a:p>
            <a:r>
              <a:t>- **项目经理**：会议太多，纪要整理占用了大量时间</a:t>
            </a:r>
          </a:p>
          <a:p>
            <a:r>
              <a:t>- **开发者**：任务分配不明确，沟通成本高</a:t>
            </a:r>
          </a:p>
          <a:p>
            <a:r>
              <a:t>- **产品经理**：需求文档和知识散落在不同工具中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智能会议纪要与自动任务分配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第5页：智能会议纪要与自动任务分配</a:t>
            </a:r>
          </a:p>
          <a:p/>
          <a:p>
            <a:r>
              <a:t>### 智能会议纪要</a:t>
            </a:r>
          </a:p>
          <a:p/>
          <a:p>
            <a:r>
              <a:t>- 实时语音转文字，支持中文及中英混合场景</a:t>
            </a:r>
          </a:p>
          <a:p>
            <a:r>
              <a:t>- 自动提取会议主题、讨论要点、待办事项</a:t>
            </a:r>
          </a:p>
          <a:p>
            <a:r>
              <a:t>- 生成结构化纪要，支持一键分享至团队成员</a:t>
            </a:r>
          </a:p>
          <a:p/>
          <a:p>
            <a:r>
              <a:t>### 自动任务分配</a:t>
            </a:r>
          </a:p>
          <a:p/>
          <a:p>
            <a:r>
              <a:t>- AI 识别会议中产生的任务，自动关联相关项目</a:t>
            </a:r>
          </a:p>
          <a:p>
            <a:r>
              <a:t>- 根据团队成员职责和当前负载，智能分配负责人</a:t>
            </a:r>
          </a:p>
          <a:p>
            <a:r>
              <a:t>- 任务状态实时更新，确保闭环管理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知识库检索与多端实时同步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第6页：知识库检索与多端实时同步</a:t>
            </a:r>
          </a:p>
          <a:p/>
          <a:p>
            <a:r>
              <a:t>### 知识库检索</a:t>
            </a:r>
          </a:p>
          <a:p/>
          <a:p>
            <a:r>
              <a:t>- 覆盖会议纪要、文档、聊天记录等全类型内容</a:t>
            </a:r>
          </a:p>
          <a:p>
            <a:r>
              <a:t>- 基于语义匹配的智能搜索，支持模糊查询</a:t>
            </a:r>
          </a:p>
          <a:p>
            <a:r>
              <a:t>- 关键词高亮，快速定位相关信息</a:t>
            </a:r>
          </a:p>
          <a:p/>
          <a:p>
            <a:r>
              <a:t>### 多端实时同步</a:t>
            </a:r>
          </a:p>
          <a:p/>
          <a:p>
            <a:r>
              <a:t>- **桌面端**：Windows / macOS</a:t>
            </a:r>
          </a:p>
          <a:p>
            <a:r>
              <a:t>- **移动端**：iOS / Android</a:t>
            </a:r>
          </a:p>
          <a:p>
            <a:r>
              <a:t>- **Web 端**：通过浏览器直接访问</a:t>
            </a:r>
          </a:p>
          <a:p>
            <a:r>
              <a:t>- 数据在多个终端间实时同步，切换设备不中断工作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系统架构概览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第7页：系统架构概览</a:t>
            </a:r>
          </a:p>
          <a:p/>
          <a:p>
            <a:r>
              <a:t>### 技术架构分层</a:t>
            </a:r>
          </a:p>
          <a:p/>
          <a:p>
            <a:r>
              <a:t>| 层级 | 技术选型 |</a:t>
            </a:r>
          </a:p>
          <a:p>
            <a:r>
              <a:t>|------|----------|</a:t>
            </a:r>
          </a:p>
          <a:p>
            <a:r>
              <a:t>| **前端** | 跨平台框架（支持桌面端、移动端、Web 端） |</a:t>
            </a:r>
          </a:p>
          <a:p>
            <a:r>
              <a:t>| **后端** | 微服务架构，模块化部署 |</a:t>
            </a:r>
          </a:p>
          <a:p>
            <a:r>
              <a:t>| **AI 推理引擎** | 负责语音识别、语义理解、任务分发 |</a:t>
            </a:r>
          </a:p>
          <a:p>
            <a:r>
              <a:t>| **数据层** | 向量数据库（语义搜索）+ 关系型数据库（结构化数据） |</a:t>
            </a:r>
          </a:p>
          <a:p>
            <a:r>
              <a:t>| **基础设施** | 云原生部署，支持弹性扩展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竞品对比 — 飞书 / 钉钉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第8页：竞品对比 — 飞书 / 钉钉</a:t>
            </a:r>
          </a:p>
          <a:p/>
          <a:p>
            <a:r>
              <a:t>### 功能差异分析</a:t>
            </a:r>
          </a:p>
          <a:p/>
          <a:p>
            <a:r>
              <a:t>| 维度 | FlowMind | 飞书 | 钉钉 |</a:t>
            </a:r>
          </a:p>
          <a:p>
            <a:r>
              <a:t>|------|----------|------|------|</a:t>
            </a:r>
          </a:p>
          <a:p>
            <a:r>
              <a:t>| **AI 原生能力** | 核心功能，深度集成 | 部分集成，非核心 | 扩展功能，需额外配置 |</a:t>
            </a:r>
          </a:p>
          <a:p>
            <a:r>
              <a:t>| **目标客户** | 50-200 人互联网公司 | 全行业通用 | 全行业通用 |</a:t>
            </a:r>
          </a:p>
          <a:p>
            <a:r>
              <a:t>| **知识库检索** | 语义搜索，全域覆盖 | 基础关键词搜索 | 基础关键词搜索 |</a:t>
            </a:r>
          </a:p>
          <a:p>
            <a:r>
              <a:t>| **自动任务分配** | AI 驱动，自动识别 | 需要手动创建 | 需要手动创建 |</a:t>
            </a:r>
          </a:p>
          <a:p/>
          <a:p>
            <a:r>
              <a:t>### 市场站位</a:t>
            </a:r>
          </a:p>
          <a:p/>
          <a:p>
            <a:r>
              <a:t>FlowMind 的差异化切入点：**专注中小互联网公司的深度协作场景**，以 AI 原生能力为核心竞争力。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技术风险及应对措施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第9页：技术风险及应对措施</a:t>
            </a:r>
          </a:p>
          <a:p/>
          <a:p>
            <a:r>
              <a:t>### 技术风险：AI 幻觉问题</a:t>
            </a:r>
          </a:p>
          <a:p/>
          <a:p>
            <a:r>
              <a:t>**风险描述**：AI 在生成会议纪要或分配任务时，可能出现与事实不符的内容。</a:t>
            </a:r>
          </a:p>
          <a:p/>
          <a:p>
            <a:r>
              <a:t>**应对措施**：</a:t>
            </a:r>
          </a:p>
          <a:p>
            <a:r>
              <a:t>1. **本地知识库校验**：AI 生成内容自动与本地知识库交叉比对</a:t>
            </a:r>
          </a:p>
          <a:p>
            <a:r>
              <a:t>2. **人工确认节点**：关键任务分配需负责人确认后方可生效</a:t>
            </a:r>
          </a:p>
          <a:p>
            <a:r>
              <a:t>3. **用户反馈机制**：支持一键标记错误内容，持续优化模型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市场风险及应对措施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第10页：市场风险及应对措施</a:t>
            </a:r>
          </a:p>
          <a:p/>
          <a:p>
            <a:r>
              <a:t>### 市场风险：竞品已占市场</a:t>
            </a:r>
          </a:p>
          <a:p/>
          <a:p>
            <a:r>
              <a:t>**风险描述**：飞书、钉钉等产品已在协作工具市场占据较大份额。</a:t>
            </a:r>
          </a:p>
          <a:p/>
          <a:p>
            <a:r>
              <a:t>**应对措施**：</a:t>
            </a:r>
          </a:p>
          <a:p>
            <a:r>
              <a:t>1. **聚焦细分场景**：主攻代码评审、敏捷站会等互联网团队高频场景</a:t>
            </a:r>
          </a:p>
          <a:p>
            <a:r>
              <a:t>2. **快速迭代**：采用敏捷开发模式，每两周发布一个版本</a:t>
            </a:r>
          </a:p>
          <a:p>
            <a:r>
              <a:t>3. **口碑传播**：通过封闭内测积累种子用户，形成案例分享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合规风险及应对措施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第11页：合规风险及应对措施</a:t>
            </a:r>
          </a:p>
          <a:p/>
          <a:p>
            <a:r>
              <a:t>### 合规风险：数据隐私</a:t>
            </a:r>
          </a:p>
          <a:p/>
          <a:p>
            <a:r>
              <a:t>**风险描述**：用户数据存储和处理可能面临隐私合规挑战。</a:t>
            </a:r>
          </a:p>
          <a:p/>
          <a:p>
            <a:r>
              <a:t>**应对措施**：</a:t>
            </a:r>
          </a:p>
          <a:p>
            <a:r>
              <a:t>1. **数据加密**：传输和存储均采用行业标准加密算法</a:t>
            </a:r>
          </a:p>
          <a:p>
            <a:r>
              <a:t>2. **本地化部署选项**：提供私有化部署方案，数据完全存放在客户环境中</a:t>
            </a:r>
          </a:p>
          <a:p>
            <a:r>
              <a:t>3. **合规认证**：遵循 GDPR、《个人信息保护法》等法规要求</a:t>
            </a:r>
          </a:p>
          <a:p>
            <a:r>
              <a:t>4. **权限管控**：支持细粒度的数据访问控制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70C0"/>
                </a:solidFill>
              </a:defRPr>
            </a:pPr>
            <a:r>
              <a:t>核心里程碑（Q1–Q4）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## 第12页：核心里程碑（Q1–Q4）</a:t>
            </a:r>
          </a:p>
          <a:p/>
          <a:p>
            <a:r>
              <a:t>| 时间 | 里程碑 | 关键成果 |</a:t>
            </a:r>
          </a:p>
          <a:p>
            <a:r>
              <a:t>|------|--------|----------|</a:t>
            </a:r>
          </a:p>
          <a:p>
            <a:r>
              <a:t>| **Q1** | 需求评审与原型设计 | 完成产品需求文档评审，产出高保真原型 |</a:t>
            </a:r>
          </a:p>
          <a:p>
            <a:r>
              <a:t>| **Q2** | 核心功能开发与单元测试 | 完成四大核心功能开发，通过单元测试 |</a:t>
            </a:r>
          </a:p>
          <a:p>
            <a:r>
              <a:t>| **Q3** | 封闭内测（邀请 20 家企业） | 面向 20 家互联网公司开放测试，收集反馈 |</a:t>
            </a:r>
          </a:p>
          <a:p>
            <a:r>
              <a:t>| **Q4** | 公测与正式上线 | 公测期优化产品体验，完成正式版发布 |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结尾页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>
                <a:solidFill>
                  <a:srgbClr val="4472C4"/>
                </a:solidFill>
              </a:defRPr>
            </a:pPr>
            <a:r>
              <a:t>## 第13页：结尾页</a:t>
            </a:r>
          </a:p>
          <a:p/>
          <a:p>
            <a:r>
              <a:t>### 下一步行动</a:t>
            </a:r>
          </a:p>
          <a:p/>
          <a:p>
            <a:r>
              <a:t>1. **确认需求**：请各相关方审阅本文档，确认需求和排期</a:t>
            </a:r>
          </a:p>
          <a:p>
            <a:r>
              <a:t>2. **启动原型设计**：确认后，立即启动产品原型设计评审会</a:t>
            </a:r>
          </a:p>
          <a:p/>
          <a:p>
            <a:r>
              <a:t>---</a:t>
            </a:r>
          </a:p>
          <a:p/>
          <a:p>
            <a:r>
              <a:t>**FlowMind —— 让团队协作更智能**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